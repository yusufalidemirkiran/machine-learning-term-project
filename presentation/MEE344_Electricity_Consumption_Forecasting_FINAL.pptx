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2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31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79" y="1600200"/>
            <a:ext cx="948279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</a:rPr>
              <a:t>Electricity Consumption Forecasting</a:t>
            </a:r>
            <a:r>
              <a:rPr lang="tr-TR" sz="4000" b="1" dirty="0">
                <a:solidFill>
                  <a:srgbClr val="0B1F3A"/>
                </a:solidFill>
              </a:rPr>
              <a:t/>
            </a:r>
            <a:endParaRPr lang="en-US" sz="4000" b="1" dirty="0">
              <a:solidFill>
                <a:srgbClr val="0B1F3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Decision Tree and XGBoost for hourly load prediction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7" y="2880359"/>
            <a:ext cx="5021463" cy="597525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2948939"/>
            <a:ext cx="4948310" cy="43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MEE344 Machine Learning</a:t>
            </a:r>
            <a:r>
              <a:rPr lang="tr-TR" sz="2000" b="1" dirty="0">
                <a:solidFill>
                  <a:srgbClr val="FFFFFF"/>
                </a:solidFill>
              </a:rPr>
              <a:t> – Term Project</a:t>
            </a:r>
            <a:endParaRPr lang="en-US" sz="2000" dirty="0"/>
          </a:p>
        </p:txBody>
      </p:sp>
      <p:pic>
        <p:nvPicPr>
          <p:cNvPr id="12" name="Image 0" descr="/mnt/data/presentation_assets/eda_production_vs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074472"/>
            <a:ext cx="6551325" cy="2183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543212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Dataset window: 1 Jun 2025 - 1 Sep 2025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Target: hourly electricity consumption (Tuketim)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526042-6CC6-33E6-FD02-044A587F11EB}"/>
              </a:ext>
            </a:extLst>
          </p:cNvPr>
          <p:cNvSpPr txBox="1"/>
          <p:nvPr/>
        </p:nvSpPr>
        <p:spPr>
          <a:xfrm>
            <a:off x="592015" y="3563815"/>
            <a:ext cx="45016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Members:</a:t>
            </a:r>
            <a:br>
              <a:rPr lang="en-US" dirty="0"/>
            </a:br>
            <a:r>
              <a:rPr lang="en-US" dirty="0"/>
              <a:t>Yusuf Ali Demirk</a:t>
            </a:r>
            <a:r>
              <a:rPr lang="tr-TR" dirty="0"/>
              <a:t>ı</a:t>
            </a:r>
            <a:r>
              <a:rPr lang="en-US" dirty="0"/>
              <a:t>ran </a:t>
            </a:r>
            <a:r>
              <a:rPr lang="en-US" b="1" dirty="0"/>
              <a:t>200029900</a:t>
            </a:r>
          </a:p>
          <a:p>
            <a:r>
              <a:rPr lang="tr-TR" dirty="0"/>
              <a:t>Fatih Umut Sadıkoğlu </a:t>
            </a:r>
            <a:r>
              <a:rPr lang="tr-TR" b="1" dirty="0"/>
              <a:t>200030322</a:t>
            </a:r>
          </a:p>
          <a:p>
            <a:r>
              <a:rPr lang="tr-TR" dirty="0"/>
              <a:t>Batuhan Çanga </a:t>
            </a:r>
            <a:r>
              <a:rPr lang="tr-TR" b="1" dirty="0"/>
              <a:t>Y23LELE001</a:t>
            </a:r>
          </a:p>
          <a:p>
            <a:r>
              <a:rPr lang="tr-TR" dirty="0"/>
              <a:t>Doğukan Akhan </a:t>
            </a:r>
            <a:r>
              <a:rPr lang="tr-TR" b="1" dirty="0"/>
              <a:t>200027062</a:t>
            </a:r>
          </a:p>
          <a:p>
            <a:r>
              <a:rPr lang="tr-TR" dirty="0"/>
              <a:t>Bahadır Çetin </a:t>
            </a:r>
            <a:r>
              <a:rPr lang="tr-TR" b="1" dirty="0"/>
              <a:t>200026717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supervised regression task with explicit forecasting constraints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1671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Input information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available before time 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2057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85032" y="2167128"/>
            <a:ext cx="21396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 engineering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calendar + lags + rolling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2057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2552" y="2167128"/>
            <a:ext cx="20482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Decision Tree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XGBoost Regressor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09760" y="20574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82912" y="2167128"/>
            <a:ext cx="14996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Prediction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Tuketim_t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71800" y="251460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51460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69680" y="251460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014216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We predict hourly electricity consumption. The target is continuous, so the task is regression.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38862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16552" y="4014216"/>
            <a:ext cx="30540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Same-hour production is excluded from the main model because it would not be known before forecasting that hour.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3886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57032" y="4014216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model uses past consumption, past production and known calendar information.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Two hourly CSV files are merged by timestamp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2232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raw production 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2232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7180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raw consumption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2064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modeled samples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5236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309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19385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samples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</a:rPr>
              <a:t>37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9264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features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788920"/>
            <a:ext cx="2743200" cy="38862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8529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Item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788920"/>
            <a:ext cx="2743200" cy="38862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8529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317754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24154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Time range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317754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324154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2025-06-01 00:00 to 2025-09-01 23:00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56616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63016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Frequency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356616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11880" y="363016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Hourly, no gaps detected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395478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01878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Merge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0" y="395478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1880" y="401878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datetime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434340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440740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Target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66160" y="4343400"/>
            <a:ext cx="2743200" cy="38862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11880" y="440740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Tuketim (MWh)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73202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47960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Constant columns removed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66160" y="4732020"/>
            <a:ext cx="2743200" cy="38862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11880" y="4796028"/>
            <a:ext cx="265176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Nafta, LNG</a:t>
            </a:r>
            <a:endParaRPr lang="en-US" sz="950" dirty="0"/>
          </a:p>
        </p:txBody>
      </p:sp>
      <p:pic>
        <p:nvPicPr>
          <p:cNvPr id="39" name="Image 0" descr="/mnt/data/presentation_assets/eda_heatmap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834640"/>
            <a:ext cx="4663440" cy="23317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Preprocessing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Data cleaning was kept explicit and reproducible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664208"/>
            <a:ext cx="23682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Parse Turkish number formats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33.758,78 -&gt; 33758.78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1188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85032" y="1664208"/>
            <a:ext cx="19568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Create datetime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from Tarih + Saat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53912" y="1664208"/>
            <a:ext cx="227685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Merge production + consumption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by timestamp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15400" y="1554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88552" y="1664208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Remove constant columns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Nafta, LNG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201168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49640" y="20116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33375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3465576"/>
            <a:ext cx="44256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raw missing values were found. Missing rows introduced by lag/rolling features are dropped after feature construction.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3375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3465576"/>
            <a:ext cx="442569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nominal categorical variables were present. Date/time strings are encoded as numeric calendar and cyclic features.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71800" y="47091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36392" y="4837176"/>
            <a:ext cx="588873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standardization is applied: Decision Tree and XGBoost are tree-based methods and do not require feature scaling.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Exploratory Analysis: System Load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Consumption and production are correlated but not identical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eda_production_vs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18360"/>
            <a:ext cx="6766560" cy="2255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508760"/>
            <a:ext cx="1874520" cy="51435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0" y="15727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601200" y="1508760"/>
            <a:ext cx="1874520" cy="51435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46920" y="15727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Implication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26680" y="20231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20871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Production total is not equal to consumption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601200" y="20231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46920" y="20871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Do not treat Toplam as target substitute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26680" y="2537460"/>
            <a:ext cx="1874520" cy="51435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0" y="26014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Consumption follows daily demand cycles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601200" y="2537460"/>
            <a:ext cx="1874520" cy="51435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46920" y="260146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Use calendar features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26680" y="30518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0" y="31158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Lag autocorrelation is strong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601200" y="3051810"/>
            <a:ext cx="1874520" cy="51435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46920" y="3115818"/>
            <a:ext cx="1783080" cy="4229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Use lag and rolling features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18120" y="397764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82712" y="4105656"/>
            <a:ext cx="328269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Key modeling choice: same-time production values are excluded from the main forecast to avoid feature availability leakage.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Exploratory Analysis: Temporal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Hourly and weekly structure justify calendar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eda_hourly_consum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120640" cy="2560320"/>
          </a:xfrm>
          <a:prstGeom prst="rect">
            <a:avLst/>
          </a:prstGeom>
        </p:spPr>
      </p:pic>
      <p:pic>
        <p:nvPicPr>
          <p:cNvPr id="6" name="Image 1" descr="/mnt/data/presentation_assets/eda_dow_con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12064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43484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87552" y="4562856"/>
            <a:ext cx="41513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Average consumption rises after early morning and remains high during daytime/evening.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46520" y="4434840"/>
            <a:ext cx="443484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611112" y="4562856"/>
            <a:ext cx="410565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Weekends, especially Sunday, show lower average consumption than weekdays.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Rows represent prediction time t; features use t-1 or earlier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4884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8348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2834640"/>
            <a:ext cx="868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2258568"/>
            <a:ext cx="145389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Calendar at 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hour, day, weekend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sin/cos encodings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1488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2258568"/>
            <a:ext cx="177393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Consumption history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lag 1, 24, 168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rolling mean/std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21488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71032" y="2258568"/>
            <a:ext cx="1773936" cy="12070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Production history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Toplam_lags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source_lag_1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23317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51392" y="2441448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Tuketim_t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5720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700016"/>
            <a:ext cx="442569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 1: previous hour. Lag 24: same hour yesterday. Lag 168: same hour last week.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2512" y="4700016"/>
            <a:ext cx="40599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Rolling features are computed as shift(1).rolling(...), so the target row is never included.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Validation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test period is untouched until final evaluation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time_series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0700"/>
            <a:ext cx="5715000" cy="190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463040"/>
            <a:ext cx="2125980" cy="393192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03720" y="1527048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Split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983980" y="1463040"/>
            <a:ext cx="2125980" cy="393192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29700" y="1527048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Purpose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1856232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1920240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Earlier 85%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983980" y="1856232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029700" y="1920240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train + validation region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0" y="2249424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03720" y="2313432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Last 15%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983980" y="2249424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29700" y="2313432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final test set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0" y="2642616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03720" y="2706624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TimeSeriesSplit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83980" y="2642616"/>
            <a:ext cx="212598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029700" y="2706624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hyperparameter tuning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58000" y="3035808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03720" y="3099816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Metrics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983980" y="3035808"/>
            <a:ext cx="2125980" cy="39319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029700" y="3099816"/>
            <a:ext cx="2034540" cy="301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RMSE, MAE, R2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4400" y="4663440"/>
            <a:ext cx="978408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78992" y="4791456"/>
            <a:ext cx="945489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Random split is avoided because it can train on future samples and validate on past samples. TimeSeriesSplit preserves chronological order.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Model 1: Decision Tree Regressor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Interpretable baseline with controlled complexity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709928"/>
            <a:ext cx="195681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Baseline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default settings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3192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05072" y="1709928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Grid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max_depth, leaf size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0" y="16002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05472" y="1709928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TimeSeriesSplit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5 validation folds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738360" y="1600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11512" y="1709928"/>
            <a:ext cx="140817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Final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RMSE, MAE, R2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057400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55080" y="2057400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55480" y="205740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mnt/data/presentation_assets/decision_tree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154680"/>
            <a:ext cx="3877056" cy="2423160"/>
          </a:xfrm>
          <a:prstGeom prst="rect">
            <a:avLst/>
          </a:prstGeom>
        </p:spPr>
      </p:pic>
      <p:pic>
        <p:nvPicPr>
          <p:cNvPr id="17" name="Image 1" descr="/mnt/data/presentation_assets/final_actual_vs_predicted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543300"/>
            <a:ext cx="4937760" cy="1645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Decision Tree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Tuning reduces complexity but only slightly improves RMSE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16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973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09060" y="146304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54780" y="152704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516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973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1011.92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739.69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09060" y="193548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4780" y="199948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0.9688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Tuned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516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973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1004.10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759.15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09060" y="240792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54780" y="24719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0.9693</a:t>
            </a:r>
            <a:endParaRPr lang="en-US" sz="950" dirty="0"/>
          </a:p>
        </p:txBody>
      </p:sp>
      <p:pic>
        <p:nvPicPr>
          <p:cNvPr id="29" name="Image 0" descr="/mnt/data/presentation_assets/decision_tree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280160"/>
            <a:ext cx="4242816" cy="26517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68680" y="3474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33272" y="3602736"/>
            <a:ext cx="36027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Best tuned configuration: max_depth=10, min_samples_leaf=5, min_samples_split=2.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68680" y="4434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33272" y="4562856"/>
            <a:ext cx="360273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model is interpretable, but it is still a single tree; boosted trees are expected to generalize better.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Model 2: XGBoost Regressor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Boosted tree ensemble for stronger nonlinear prediction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618488"/>
            <a:ext cx="213969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Sequential trees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correct previous errors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49040" y="15087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22192" y="1618488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Small candidate search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learning rate, depth, trees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39712" y="1618488"/>
            <a:ext cx="213969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Same TimeSeriesSplit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no random CV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418320" y="1508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91472" y="1618488"/>
            <a:ext cx="1773936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Same test set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</a:rPr>
              <a:t>fair comparison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98280" y="20116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3831336"/>
            <a:ext cx="4242816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Final tuned parameters: 200 trees, depth 3, learning rate 0.03, subsample 0.9, colsample 0.9.</a:t>
            </a:r>
            <a:endParaRPr lang="en-US" sz="1300" dirty="0"/>
          </a:p>
        </p:txBody>
      </p:sp>
      <p:pic>
        <p:nvPicPr>
          <p:cNvPr id="18" name="Image 0" descr="/mnt/data/presentation_assets/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3063240"/>
            <a:ext cx="4169664" cy="2606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XGBoost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XGBoost achieves the lowest final test error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16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973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09060" y="1417320"/>
            <a:ext cx="102870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54780" y="148132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516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973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852.22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03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647.50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09060" y="1889760"/>
            <a:ext cx="102870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54780" y="195376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0.9779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Tuned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516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973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784.41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591.91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09060" y="2362200"/>
            <a:ext cx="102870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54780" y="2426208"/>
            <a:ext cx="93726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0.981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68680" y="38862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33272" y="4014216"/>
            <a:ext cx="36941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tuned XGBoost model improves over the tuned Decision Tree by about 21.9% RMSE.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806440" y="434340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971032" y="4471416"/>
            <a:ext cx="41513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remaining errors likely correspond to rapid local changes not captured by weather or holiday variables.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12</a:t>
            </a:r>
            <a:endParaRPr lang="en-US" sz="850" dirty="0"/>
          </a:p>
        </p:txBody>
      </p:sp>
      <p:pic>
        <p:nvPicPr>
          <p:cNvPr id="35" name="Picture 34" descr="xgboost_actual_vs_predicted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638300"/>
            <a:ext cx="5806440" cy="1935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Final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Both models perform well; XGBoost is strongest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5523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0095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RMSE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70966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538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864090" y="1508760"/>
            <a:ext cx="1154430" cy="472440"/>
          </a:xfrm>
          <a:prstGeom prst="rect">
            <a:avLst/>
          </a:prstGeom>
          <a:solidFill>
            <a:srgbClr val="0B1F3A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09810" y="157276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Decision Tree Tuned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5523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0095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1004.10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70966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5538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759.15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864090" y="1981200"/>
            <a:ext cx="1154430" cy="47244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909810" y="204520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0.9693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4652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</a:rPr>
              <a:t>XGBoost Tuned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55523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0095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784.41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70966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5538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591.91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864090" y="2453640"/>
            <a:ext cx="1154430" cy="47244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909810" y="2517648"/>
            <a:ext cx="1062990" cy="381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0.981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400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21.9%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400800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RMSE reduction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86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0.981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686800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Best R2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60120" y="489204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124712" y="5020056"/>
            <a:ext cx="954633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Final conclusion: XGBoost is selected as the better model under the same leakage-safe feature set and test period.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13</a:t>
            </a:r>
            <a:endParaRPr lang="en-US" sz="850" dirty="0"/>
          </a:p>
        </p:txBody>
      </p:sp>
      <p:pic>
        <p:nvPicPr>
          <p:cNvPr id="37" name="Picture 36" descr="final_model_rmse_comparison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Insights and 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strongest signals are recent consumption and system state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presentation_assets/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325880"/>
            <a:ext cx="4828032" cy="3017520"/>
          </a:xfrm>
          <a:prstGeom prst="rect">
            <a:avLst/>
          </a:prstGeom>
        </p:spPr>
      </p:pic>
      <p:pic>
        <p:nvPicPr>
          <p:cNvPr id="6" name="Image 1" descr="/mnt/data/presentation_assets/decision_tree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1325880"/>
            <a:ext cx="4828032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8680" y="47548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033272" y="4882896"/>
            <a:ext cx="424281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Lagged consumption features confirm strong short-term and daily dependence in electricity demand.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55080" y="47548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519672" y="4882896"/>
            <a:ext cx="424281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Lagged production features provide recent system-state information, but are kept lagged to avoid availability leakage.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64465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MEE344 Machine Learning Term Project |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00000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Conclusion and Discussion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9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dirty="0">
                <a:solidFill>
                  <a:srgbClr val="64748B"/>
                </a:solidFill>
              </a:rPr>
              <a:t>What the model results imply and where the setup is limited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5" name="Card 1"/>
          <p:cNvSpPr/>
          <p:nvPr/>
        </p:nvSpPr>
        <p:spPr>
          <a:xfrm>
            <a:off x="700000" y="1450000"/>
            <a:ext cx="3350000" cy="2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Final conclusion</a:t>
            </a:r>
            <a:endParaRPr lang="en-US" sz="155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XGBoost is selected as the best model under the same leakage-safe feature set and final test period.</a:t>
            </a:r>
            <a:endParaRPr lang="en-US" sz="112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RMSE: 784.41   MAE: 591.91   R²: 0.981</a:t>
            </a:r>
            <a:endParaRPr lang="en-US" sz="115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Compared with the tuned Decision Tree, XGBoost reduces RMSE by about 21.9%.</a:t>
            </a:r>
            <a:endParaRPr lang="en-US" sz="1120" dirty="0"/>
          </a:p>
        </p:txBody>
      </p:sp>
      <p:sp>
        <p:nvSpPr>
          <p:cNvPr id="6" name="Card 2"/>
          <p:cNvSpPr/>
          <p:nvPr/>
        </p:nvSpPr>
        <p:spPr>
          <a:xfrm>
            <a:off x="4420000" y="1450000"/>
            <a:ext cx="3350000" cy="2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Interpretation</a:t>
            </a:r>
            <a:endParaRPr lang="en-US" sz="155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The dominant features are lagged consumption values, especially the weekly lag and previous-hour load.</a:t>
            </a:r>
            <a:endParaRPr lang="en-US" sz="112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This matches electricity demand behavior: recent load and weekly routines carry strong predictive information.</a:t>
            </a:r>
            <a:endParaRPr lang="en-US" sz="112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Lagged production contributes as recent system-state information, not as same-hour leakage.</a:t>
            </a:r>
            <a:endParaRPr lang="en-US" sz="1120" dirty="0"/>
          </a:p>
        </p:txBody>
      </p:sp>
      <p:sp>
        <p:nvSpPr>
          <p:cNvPr id="7" name="Card 3"/>
          <p:cNvSpPr/>
          <p:nvPr/>
        </p:nvSpPr>
        <p:spPr>
          <a:xfrm>
            <a:off x="8140000" y="1450000"/>
            <a:ext cx="3350000" cy="2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Limitations</a:t>
            </a:r>
            <a:endParaRPr lang="en-US" sz="155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The dataset covers only the summer period from June to September 2025.</a:t>
            </a:r>
            <a:endParaRPr lang="en-US" sz="112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Weather, public holidays, electricity prices and industrial activity are not included.</a:t>
            </a:r>
            <a:endParaRPr lang="en-US" sz="1120" dirty="0"/>
          </a:p>
          <a:p>
            <a:pPr marL="0" indent="0">
              <a:buNone/>
            </a:pPr>
            <a:r>
              <a:rPr lang="en-US" sz="1120" b="0" dirty="0">
                <a:solidFill>
                  <a:srgbClr val="334155"/>
                </a:solidFill>
              </a:rPr>
              <a:t>Sudden demand changes remain harder to predict with only lagged historical features.</a:t>
            </a:r>
            <a:endParaRPr lang="en-US" sz="1120" dirty="0"/>
          </a:p>
        </p:txBody>
      </p:sp>
      <p:sp>
        <p:nvSpPr>
          <p:cNvPr id="8" name="Accent Bar"/>
          <p:cNvSpPr/>
          <p:nvPr/>
        </p:nvSpPr>
        <p:spPr>
          <a:xfrm>
            <a:off x="700000" y="4500000"/>
            <a:ext cx="10800000" cy="900000"/>
          </a:xfrm>
          <a:prstGeom prst="rect">
            <a:avLst/>
          </a:prstGeom>
          <a:solidFill>
            <a:srgbClr val="EAF2FF"/>
          </a:solidFill>
          <a:ln w="12700">
            <a:solidFill>
              <a:srgbClr val="BFDBFE"/>
            </a:solidFill>
          </a:ln>
        </p:spPr>
      </p:sp>
      <p:sp>
        <p:nvSpPr>
          <p:cNvPr id="9" name="Takeaway"/>
          <p:cNvSpPr/>
          <p:nvPr/>
        </p:nvSpPr>
        <p:spPr>
          <a:xfrm>
            <a:off x="900000" y="4660000"/>
            <a:ext cx="1035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A"/>
                </a:solidFill>
              </a:rPr>
              <a:t>Main takeaway: a leakage-safe time-series setup with lagged features gives a realistic forecasting task; boosted trees improve accuracy while preserving interpretable feature importance.</a:t>
            </a:r>
            <a:endParaRPr lang="en-US" sz="1320" dirty="0"/>
          </a:p>
        </p:txBody>
      </p:sp>
      <p:sp>
        <p:nvSpPr>
          <p:cNvPr id="10" name="Footer"/>
          <p:cNvSpPr/>
          <p:nvPr/>
        </p:nvSpPr>
        <p:spPr>
          <a:xfrm>
            <a:off x="594360" y="6500000"/>
            <a:ext cx="3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0" dirty="0">
                <a:solidFill>
                  <a:srgbClr val="64748B"/>
                </a:solidFill>
              </a:rPr>
              <a:t>MEE344 Machine Learning Term Project | 15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955</Words>
  <Application>Microsoft Office PowerPoint</Application>
  <PresentationFormat>Widescreen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Istanbul Ticaret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Consumption Forecasting</dc:title>
  <dc:subject>Decision Tree and XGBoost</dc:subject>
  <dc:creator>MEE344 Project Group</dc:creator>
  <cp:lastModifiedBy>casua</cp:lastModifiedBy>
  <cp:revision>4</cp:revision>
  <dcterms:created xsi:type="dcterms:W3CDTF">2026-05-22T15:00:54Z</dcterms:created>
  <dcterms:modified xsi:type="dcterms:W3CDTF">2026-05-22T15:26:41Z</dcterms:modified>
</cp:coreProperties>
</file>